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731520"/>
            <a:ext cx="4114800" cy="4114800"/>
          </a:xfrm>
          <a:prstGeom prst="ellipse">
            <a:avLst/>
          </a:prstGeom>
          <a:solidFill>
            <a:srgbClr val="00684A">
              <a:alpha val="40000"/>
            </a:srgbClr>
          </a:solidFill>
          <a:ln w="12700">
            <a:solidFill>
              <a:srgbClr val="00684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828800"/>
            <a:ext cx="2743200" cy="2743200"/>
          </a:xfrm>
          <a:prstGeom prst="ellipse">
            <a:avLst/>
          </a:prstGeom>
          <a:solidFill>
            <a:srgbClr val="00ED64">
              <a:alpha val="20000"/>
            </a:srgbClr>
          </a:solidFill>
          <a:ln w="12700">
            <a:solidFill>
              <a:srgbClr val="00ED64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1887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411480" y="18745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CampusQuest · USC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11480" y="2468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· Base de Datos · Colecciones · Seguridad · Cadena de Conexión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2F23"/>
          </a:solidFill>
          <a:ln w="12700">
            <a:solidFill>
              <a:srgbClr val="002F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5B8"/>
                </a:solidFill>
              </a:rPr>
              <a:t>Facultad de Ingeniería · Bootcamp CampusQuest · Sesión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E2B"/>
          </a:solidFill>
          <a:ln w="12700">
            <a:solidFill>
              <a:srgbClr val="001E2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MongoDB Atlas?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" y="11430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143000"/>
            <a:ext cx="2743200" cy="73152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298448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1920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E2B"/>
                </a:solidFill>
              </a:rPr>
              <a:t>Base de Datos en la Nube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25146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Cluster gestionado en AWS/GCP/Azure. Sin instalar nada localmente. Siempre disponible.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246120" y="11430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46120" y="1143000"/>
            <a:ext cx="2743200" cy="73152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298448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83280" y="1920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E2B"/>
                </a:solidFill>
              </a:rPr>
              <a:t>Seguridad Integrada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383280" y="25146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Autenticación de usuarios, cifrado en tránsito (TLS) y en reposo, IP Whitelist.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172200" y="11430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172200" y="1143000"/>
            <a:ext cx="2743200" cy="73152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298448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09360" y="1920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E2B"/>
                </a:solidFill>
              </a:rPr>
              <a:t>MongoDB Flexible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309360" y="25146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Documentos JSON. Esquemas dinámicos. Operadores geoespaciales para el geofencing del gymkhana.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320040" y="4498848"/>
            <a:ext cx="8503920" cy="411480"/>
          </a:xfrm>
          <a:prstGeom prst="rect">
            <a:avLst/>
          </a:prstGeom>
          <a:solidFill>
            <a:srgbClr val="E8F5F0"/>
          </a:solidFill>
          <a:ln w="12700">
            <a:solidFill>
              <a:srgbClr val="B2D8C8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02920" y="4507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84A"/>
                </a:solidFill>
              </a:rPr>
              <a:t>✅  El plan gratuito M0 de Atlas es suficiente para el backend de CampusQuest en desarrollo.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E2B"/>
          </a:solidFill>
          <a:ln w="12700">
            <a:solidFill>
              <a:srgbClr val="001E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384048" cy="384048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MongoDB Atlas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9377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64008" cy="768096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98448"/>
            <a:ext cx="384048" cy="384048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E2B"/>
                </a:solidFill>
              </a:rPr>
              <a:t>Ir a cloud.mongodb.com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Abre el navegador y visita la URL oficial de MongoDB Atlas.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011680"/>
            <a:ext cx="49377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011680"/>
            <a:ext cx="64008" cy="768096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194560"/>
            <a:ext cx="384048" cy="384048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084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E2B"/>
                </a:solidFill>
              </a:rPr>
              <a:t>Crear cuenta gratuita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3591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Clic en 'Try Free'. Puedes registrarte con email o con tu cuenta de Google.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907792"/>
            <a:ext cx="49377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07792"/>
            <a:ext cx="64008" cy="768096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090672"/>
            <a:ext cx="384048" cy="384048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29809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E2B"/>
                </a:solidFill>
              </a:rPr>
              <a:t>Verificar email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2552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Revisa tu bandeja de entrada y haz clic en el enlace de verificación.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803904"/>
            <a:ext cx="49377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803904"/>
            <a:ext cx="64008" cy="768096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986784"/>
            <a:ext cx="384048" cy="384048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38770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E2B"/>
                </a:solidFill>
              </a:rPr>
              <a:t>Completar el perfil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1513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Selecciona 'Learn MongoDB' como objetivo y 'JavaScript' como lenguaje preferido.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0" y="1115568"/>
            <a:ext cx="3337560" cy="1234440"/>
          </a:xfrm>
          <a:prstGeom prst="rect">
            <a:avLst/>
          </a:prstGeom>
          <a:solidFill>
            <a:srgbClr val="001E2B"/>
          </a:solidFill>
          <a:ln w="12700">
            <a:solidFill>
              <a:srgbClr val="001E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2356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D64"/>
                </a:solidFill>
              </a:rPr>
              <a:t>🌐  URL Oficial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23560" y="1572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cloud.mongodb.com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86400" y="2487168"/>
            <a:ext cx="33375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623560" y="25786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E2B"/>
                </a:solidFill>
              </a:rPr>
              <a:t>💡  Consejos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23560" y="29443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→  Usa tu email universitario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23560" y="34015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→  No se requiere tarjeta de crédito para el plan gratuito M0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23560" y="38587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→  El plan M0 incluye 512 MB de almacenamiento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E2B"/>
          </a:solidFill>
          <a:ln w="12700">
            <a:solidFill>
              <a:srgbClr val="001E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384048" cy="384048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Proyecto y Cluster M0 (Gratuito)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14800" cy="457200"/>
          </a:xfrm>
          <a:prstGeom prst="rect">
            <a:avLst/>
          </a:prstGeom>
          <a:solidFill>
            <a:srgbClr val="00684A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📁  Crear Proyecto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72768"/>
            <a:ext cx="384048" cy="384048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9264" y="157276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1E2B"/>
                </a:solidFill>
              </a:rPr>
              <a:t>En el panel, clic en 'New Project'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167128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31136"/>
            <a:ext cx="384048" cy="384048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9264" y="223113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1E2B"/>
                </a:solidFill>
              </a:rPr>
              <a:t>Nombre: CampusQuest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825496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89504"/>
            <a:ext cx="384048" cy="384048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9264" y="288950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1E2B"/>
                </a:solidFill>
              </a:rPr>
              <a:t>Clic en 'Next' → 'Create Project'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1051560"/>
            <a:ext cx="4114800" cy="457200"/>
          </a:xfrm>
          <a:prstGeom prst="rect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☁️  Crear Cluster M0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09160" y="150876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572768"/>
            <a:ext cx="384048" cy="384048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58384" y="157276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E2B"/>
                </a:solidFill>
              </a:rPr>
              <a:t>Clic en 'Build a Database'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167128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2231136"/>
            <a:ext cx="384048" cy="384048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58384" y="223113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E2B"/>
                </a:solidFill>
              </a:rPr>
              <a:t>Elegir 'M0 Free' (AWS, región más cercana)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2825496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2889504"/>
            <a:ext cx="384048" cy="384048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58384" y="288950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E2B"/>
                </a:solidFill>
              </a:rPr>
              <a:t>Nombre del cluster: campusquest-cluster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3483864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547872"/>
            <a:ext cx="384048" cy="384048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58384" y="354787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E2B"/>
                </a:solidFill>
              </a:rPr>
              <a:t>Clic en 'Create'  →  esperar ~2 minutos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4498848"/>
            <a:ext cx="8503920" cy="402336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507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5800"/>
                </a:solidFill>
              </a:rPr>
              <a:t>⚠️  Importante: El plan M0 es compartido. Para producción real usar M10+. Para el bootcamp, M0 es suficiente.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E2B"/>
          </a:solidFill>
          <a:ln w="12700">
            <a:solidFill>
              <a:srgbClr val="001E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384048" cy="384048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Crear Usuario de Base de Datos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972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143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2B"/>
                </a:solidFill>
              </a:rPr>
              <a:t>¿Por qué crear un usuario separado?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20040" y="16642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El usuario de base de datos es diferente a tu cuenta de Atlas. El backend (Node.js) usa ESTE usuario para conectarse. Nunca uses las credenciales de tu cuenta principal en el código.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" y="2286000"/>
            <a:ext cx="8503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8912" y="2331720"/>
            <a:ext cx="347472" cy="347472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23225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E2B"/>
                </a:solidFill>
              </a:rPr>
              <a:t>Ir a 'Database Access'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14400" y="2505456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En el menú izquierdo de Atlas, sección SECURITY → Database Access.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" y="2816352"/>
            <a:ext cx="8503920" cy="457200"/>
          </a:xfrm>
          <a:prstGeom prst="rect">
            <a:avLst/>
          </a:prstGeom>
          <a:solidFill>
            <a:srgbClr val="E8F5F0"/>
          </a:solidFill>
          <a:ln w="12700">
            <a:solidFill>
              <a:srgbClr val="D1E8D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8912" y="2862072"/>
            <a:ext cx="347472" cy="347472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4400" y="28529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E2B"/>
                </a:solidFill>
              </a:rPr>
              <a:t>Clic en 'Add New Database User'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914400" y="303580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Abre el formulario de creación de usuario.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20040" y="3346704"/>
            <a:ext cx="8503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8912" y="3392424"/>
            <a:ext cx="347472" cy="347472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8912" y="3392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14400" y="3383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E2B"/>
                </a:solidFill>
              </a:rPr>
              <a:t>Authentication Method: Password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14400" y="356616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Ingresa un usuario: campusquest_user  |  Genera una contraseña segura con 'Autogenerate'.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20040" y="3877056"/>
            <a:ext cx="8503920" cy="457200"/>
          </a:xfrm>
          <a:prstGeom prst="rect">
            <a:avLst/>
          </a:prstGeom>
          <a:solidFill>
            <a:srgbClr val="E8F5F0"/>
          </a:solidFill>
          <a:ln w="12700">
            <a:solidFill>
              <a:srgbClr val="D1E8D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38912" y="3922776"/>
            <a:ext cx="347472" cy="347472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38912" y="3922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14400" y="39136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E2B"/>
                </a:solidFill>
              </a:rPr>
              <a:t>Database User Privileges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914400" y="409651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Selecciona 'Atlas admin' (para desarrollo). En producción usar 'Read and write to any database'.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20040" y="4407408"/>
            <a:ext cx="8503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38912" y="4453128"/>
            <a:ext cx="347472" cy="347472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38912" y="4453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14400" y="44439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E2B"/>
                </a:solidFill>
              </a:rPr>
              <a:t>Clic en 'Add User'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914400" y="4626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Guarda el usuario y la contraseña en un lugar seguro — la necesitarás para la cadena de conexión.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E2B"/>
          </a:solidFill>
          <a:ln w="12700">
            <a:solidFill>
              <a:srgbClr val="001E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384048" cy="384048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Acceso de Red (IP Whitelist)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78992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43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E2B"/>
                </a:solidFill>
              </a:rPr>
              <a:t>¿Por qué es necesario?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0040" y="1600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Atlas bloquea todas las conexiones por defecto. Debes autorizar explícitamente las IPs que pueden conectarse al cluster.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" y="2212848"/>
            <a:ext cx="5029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295144"/>
            <a:ext cx="384048" cy="384048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9264" y="225856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2B"/>
                </a:solidFill>
              </a:rPr>
              <a:t>Ir a 'Network Access'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9264" y="248716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Menú izquierdo → SECURITY → Network Access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" y="2816352"/>
            <a:ext cx="5029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898648"/>
            <a:ext cx="384048" cy="384048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69264" y="28620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2B"/>
                </a:solidFill>
              </a:rPr>
              <a:t>Clic en 'Add IP Address'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69264" y="309067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Abre el modal de configuración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20040" y="3419856"/>
            <a:ext cx="5029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7200" y="3502152"/>
            <a:ext cx="384048" cy="384048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69264" y="346557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2B"/>
                </a:solidFill>
              </a:rPr>
              <a:t>Para Codespaces: 0.0.0.0/0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69264" y="369417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Permite conexiones desde cualquier IP (solo desarrollo). Codespaces tiene IP dinámica.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20040" y="4023360"/>
            <a:ext cx="5029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57200" y="4105656"/>
            <a:ext cx="384048" cy="384048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69264" y="40690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2B"/>
                </a:solidFill>
              </a:rPr>
              <a:t>Clic en 'Confirm'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69264" y="42976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Tarda ~30 segundos en activarse.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532120" y="1051560"/>
            <a:ext cx="3291840" cy="18745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669280" y="11155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⚠️  Para Desarrollo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(Codespaces)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669280" y="1691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4037"/>
                </a:solidFill>
              </a:rPr>
              <a:t>Usar  0.0.0.0/0  porque GitHub Codespaces asigna una IP diferente en cada sesión. Esto permite cualquier IP.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532120" y="3017520"/>
            <a:ext cx="3291840" cy="187452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5669280" y="3081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84A"/>
                </a:solidFill>
              </a:rPr>
              <a:t>✅  Para Producción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669280" y="34930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Agregar solo la IP específica del servidor de producción. Nunca usar 0.0.0.0/0 en entornos productivos.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E2B"/>
          </a:solidFill>
          <a:ln w="12700">
            <a:solidFill>
              <a:srgbClr val="001E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384048" cy="384048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la Base de Datos y las Colecciones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078992"/>
            <a:ext cx="384048" cy="384048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108813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1E2B"/>
                </a:solidFill>
              </a:rPr>
              <a:t>En el cluster creado, clic en 'Browse Collections'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554480"/>
            <a:ext cx="8503920" cy="420624"/>
          </a:xfrm>
          <a:prstGeom prst="rect">
            <a:avLst/>
          </a:prstGeom>
          <a:solidFill>
            <a:srgbClr val="E8F5F0"/>
          </a:solidFill>
          <a:ln w="12700">
            <a:solidFill>
              <a:srgbClr val="D1E8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581912"/>
            <a:ext cx="384048" cy="384048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9264" y="159105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1E2B"/>
                </a:solidFill>
              </a:rPr>
              <a:t>Clic en 'Add My Own Data'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057400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2084832"/>
            <a:ext cx="384048" cy="384048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9264" y="209397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1E2B"/>
                </a:solidFill>
              </a:rPr>
              <a:t>Database name: campusquest   |   Collection name: locations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560320"/>
            <a:ext cx="8503920" cy="420624"/>
          </a:xfrm>
          <a:prstGeom prst="rect">
            <a:avLst/>
          </a:prstGeom>
          <a:solidFill>
            <a:srgbClr val="E8F5F0"/>
          </a:solidFill>
          <a:ln w="12700">
            <a:solidFill>
              <a:srgbClr val="D1E8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587752"/>
            <a:ext cx="384048" cy="384048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9264" y="259689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1E2B"/>
                </a:solidFill>
              </a:rPr>
              <a:t>Clic en 'Create'. Repetir para cada colección.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0040" y="315468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E2B"/>
                </a:solidFill>
              </a:rPr>
              <a:t>Las 4 colecciones del Gymkhana CampusQuest: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3566160"/>
            <a:ext cx="4114800" cy="566928"/>
          </a:xfrm>
          <a:prstGeom prst="rect">
            <a:avLst/>
          </a:prstGeom>
          <a:solidFill>
            <a:srgbClr val="001E2B"/>
          </a:solidFill>
          <a:ln w="12700">
            <a:solidFill>
              <a:srgbClr val="001E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566160"/>
            <a:ext cx="64008" cy="566928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6118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38587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B8"/>
                </a:solidFill>
              </a:rPr>
              <a:t>Estaciones del campus con coordenadas GeoJSON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3566160"/>
            <a:ext cx="4114800" cy="566928"/>
          </a:xfrm>
          <a:prstGeom prst="rect">
            <a:avLst/>
          </a:prstGeom>
          <a:solidFill>
            <a:srgbClr val="001E2B"/>
          </a:solidFill>
          <a:ln w="12700">
            <a:solidFill>
              <a:srgbClr val="001E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566160"/>
            <a:ext cx="64008" cy="566928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6118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2040" y="38587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B8"/>
                </a:solidFill>
              </a:rPr>
              <a:t>Preguntas vinculadas a cada estación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4224528"/>
            <a:ext cx="4114800" cy="566928"/>
          </a:xfrm>
          <a:prstGeom prst="rect">
            <a:avLst/>
          </a:prstGeom>
          <a:solidFill>
            <a:srgbClr val="001E2B"/>
          </a:solidFill>
          <a:ln w="12700">
            <a:solidFill>
              <a:srgbClr val="001E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4224528"/>
            <a:ext cx="64008" cy="566928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2702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45171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B8"/>
                </a:solidFill>
              </a:rPr>
              <a:t>Equipos de estudiantes y su progreso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4224528"/>
            <a:ext cx="4114800" cy="566928"/>
          </a:xfrm>
          <a:prstGeom prst="rect">
            <a:avLst/>
          </a:prstGeom>
          <a:solidFill>
            <a:srgbClr val="001E2B"/>
          </a:solidFill>
          <a:ln w="12700">
            <a:solidFill>
              <a:srgbClr val="001E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4224528"/>
            <a:ext cx="64008" cy="566928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42702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92040" y="45171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B8"/>
                </a:solidFill>
              </a:rPr>
              <a:t>Respuestas enviadas con geo_stamp GPS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E2B"/>
          </a:solidFill>
          <a:ln w="12700">
            <a:solidFill>
              <a:srgbClr val="001E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384048" cy="384048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la Cadena de Conexión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1179576"/>
            <a:ext cx="347472" cy="347472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79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1521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2B"/>
                </a:solidFill>
              </a:rPr>
              <a:t>En el cluster, clic en 'Connect'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37160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Botón en la fila de tu cluster en el panel principal.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691640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" y="1773936"/>
            <a:ext cx="347472" cy="347472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773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465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2B"/>
                </a:solidFill>
              </a:rPr>
              <a:t>Elegir 'Drivers'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196596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Selecciona el conector para aplicaciones (Node.js / Mongoose).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286000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" y="2368296"/>
            <a:ext cx="347472" cy="347472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368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34086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2B"/>
                </a:solidFill>
              </a:rPr>
              <a:t>Driver: Node.js  |  Version: 5.5 o latest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5603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Estas son las opciones compatibles con Mongoose v8+.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880360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" y="2962656"/>
            <a:ext cx="347472" cy="347472"/>
          </a:xfrm>
          <a:prstGeom prst="ellipse">
            <a:avLst/>
          </a:prstGeom>
          <a:solidFill>
            <a:srgbClr val="00A35C"/>
          </a:solidFill>
          <a:ln w="12700">
            <a:solidFill>
              <a:srgbClr val="00A3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293522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2B"/>
                </a:solidFill>
              </a:rPr>
              <a:t>Copiar la cadena de conexión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315468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 ve así: mongodb+srv://usuario:password@cluster.xxxxx.mongodb.net/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0040" y="361188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E2B"/>
                </a:solidFill>
              </a:rPr>
              <a:t>Guardar en el archivo  .env  del backend: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20040" y="3931920"/>
            <a:ext cx="8503920" cy="9601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931920"/>
            <a:ext cx="8503920" cy="20116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9" name="Shape 27"/>
          <p:cNvSpPr/>
          <p:nvPr/>
        </p:nvSpPr>
        <p:spPr>
          <a:xfrm>
            <a:off x="429768" y="398678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" y="398678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" y="398678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" y="4169664"/>
            <a:ext cx="817473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PORT=3000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MONGODB_URI=mongodb+srv://campusquest_user:&lt;password&gt;@campusquest-cluster.xxxxx.mongodb.net/campusquest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JWT_SECRET=mi_clave_secreta_muy_larga_y_aleatoria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JWT_EXPIRES_IN=24h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Resumen: Atlas listo para CampusQuest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11480" y="960120"/>
            <a:ext cx="8321040" cy="502920"/>
          </a:xfrm>
          <a:prstGeom prst="rect">
            <a:avLst/>
          </a:prstGeom>
          <a:solidFill>
            <a:srgbClr val="002F23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0058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 Cuenta Atlas creada y verificada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11480" y="1554480"/>
            <a:ext cx="8321040" cy="502920"/>
          </a:xfrm>
          <a:prstGeom prst="rect">
            <a:avLst/>
          </a:prstGeom>
          <a:solidFill>
            <a:srgbClr val="002F23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600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 Proyecto CampusQuest y Cluster M0 creados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2148840"/>
            <a:ext cx="8321040" cy="502920"/>
          </a:xfrm>
          <a:prstGeom prst="rect">
            <a:avLst/>
          </a:prstGeom>
          <a:solidFill>
            <a:srgbClr val="002F23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1945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 Usuario campusquest_user con contraseña segura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11480" y="2743200"/>
            <a:ext cx="8321040" cy="502920"/>
          </a:xfrm>
          <a:prstGeom prst="rect">
            <a:avLst/>
          </a:prstGeom>
          <a:solidFill>
            <a:srgbClr val="002F23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278892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 IP 0.0.0.0/0 autorizada para Codespaces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11480" y="3337560"/>
            <a:ext cx="8321040" cy="502920"/>
          </a:xfrm>
          <a:prstGeom prst="rect">
            <a:avLst/>
          </a:prstGeom>
          <a:solidFill>
            <a:srgbClr val="002F23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33832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 BD campusquest con 4 colecciones: locations, questions, teams, responses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11480" y="3931920"/>
            <a:ext cx="8321040" cy="502920"/>
          </a:xfrm>
          <a:prstGeom prst="rect">
            <a:avLst/>
          </a:prstGeom>
          <a:solidFill>
            <a:srgbClr val="002F23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39776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 Cadena de conexión mongodb+srv:// copiada en el .env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46817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E2B"/>
                </a:solidFill>
              </a:rPr>
              <a:t>Siguiente: Implementar el Backend en GitHub Codespaces →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MongoDB Atlas para CampusQuest</dc:title>
  <dc:subject>PptxGenJS Presentation</dc:subject>
  <dc:creator>PptxGenJS</dc:creator>
  <cp:lastModifiedBy>PptxGenJS</cp:lastModifiedBy>
  <cp:revision>1</cp:revision>
  <dcterms:created xsi:type="dcterms:W3CDTF">2026-04-13T20:30:43Z</dcterms:created>
  <dcterms:modified xsi:type="dcterms:W3CDTF">2026-04-13T20:30:43Z</dcterms:modified>
</cp:coreProperties>
</file>